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48" r:id="rId1"/>
  </p:sldMasterIdLst>
  <p:sldIdLst>
    <p:sldId id="264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6" r:id="rId10"/>
    <p:sldId id="262" r:id="rId11"/>
    <p:sldId id="267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A0A9A-05C2-EE79-5ADF-95CAAC29A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0854DE-7A54-6B9C-186C-1B2E67B22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EBC29-8604-6534-833E-A5A0D541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28DFE-42D6-2C3D-C0AB-8027205F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F7E009-B05F-D705-57C3-851273D1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7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A0DC1-15B5-87A0-D541-E3B18812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D4380-28EC-E15C-12C1-AE9BE5B5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13A77-27A3-A85D-7544-6433FE9C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D2232C-D87A-0138-48FF-47DAE4FC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E2C60-3310-064B-1BE1-776C917A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00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CB971-54BF-04DE-4B40-5004F9D2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1A67EA-7E9B-800D-150D-3F1EE991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9F9D5-D01A-5561-6AD9-5BD02C99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A7DA1-D22E-3F11-9F38-ACAF1992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392BC-F7EB-B640-8324-3A6EBC38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1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C56BF-6771-DA84-643B-84E879D0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6D8E2-1B26-B935-B66D-AAE7F5DF4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F8BB2D-9FF4-5BDD-4BE5-8473E91AF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E726D4-4095-498D-E20B-13423803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B918EF-77CC-C3F1-980D-E48A25E7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A946F9-AA17-7C35-D121-BE681445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31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C0BB4-E27D-1206-CF83-8AD365FD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B4BD4-546C-93EB-45BD-B30CCB47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47483-A707-11ED-3A7D-F074F1D1D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2E67B4-4A88-A3D2-D4E3-4E06135DD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439533-40AE-9700-2F42-77EED14E6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F7DECB-83FB-B71D-903E-E608D0C1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E417EF-AB34-4C1B-4573-B9B199E3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E2DEDA-C410-023D-FFE9-BB8CAEAE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13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F9FC3-CDE1-8F2C-95AD-D2B556E1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E7C0D-49F5-1083-C03E-FCB157C3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1352C-F025-4F55-A2CF-F5DACF80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00DC66-62B2-A21E-C725-3A0043E4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43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BFCBC2-0E91-A759-A64D-9B03A899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F83D65-421A-AE01-E367-1A26755F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99B73-7DE3-F2BE-F939-603C7542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921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292C8-A283-A3D3-3964-81E2ADB6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105F7-6A6A-60CD-CB30-181976180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7AE43-F206-D937-4967-7268176D3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F80345-0EF0-1329-4C8B-7B00B068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EC2E8D-B86B-2C5B-AB6F-CBCF56D1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ACD5E1-BE0E-37BA-46A5-B80FF35A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1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5D154-9450-6B8D-4086-D067658C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65135F-F099-9650-501D-C8492585D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82EEB-5659-D790-B476-806CC5DBD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04770F-B8D6-A0D4-350B-E2190113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00EC0F-545C-A390-3209-B40C1671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3B28D-7F18-F2B9-2BC8-7E5F9AC8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A4D30-7B33-9186-9C8D-E2C83032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AFFC18-8E48-6322-A66E-3BFFB667F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74288-C14E-C391-D895-A742D6CE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FC3DA-82EE-D319-F6D0-925AAEE5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3FA503-8D39-51BE-719B-7C7C6D39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93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4BB6D3-8970-1C09-BD72-BCC6474A0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BAE67E-783E-41A0-75B2-8CBA1749B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18255B-0638-CFE7-C281-7A825984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D8D9A-CAC5-38AD-CC76-47CB13FE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1E999-F775-0034-F094-4C96AAF7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7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65A2BB-90E6-F4D4-DA45-A1E16A10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6376A-59A5-1589-54C8-97C03E1DB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11F1C-5899-499F-B447-8CE971C86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DD9A2-2A4B-4E74-988F-FF3B7D47EAA4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DA0E1B-0148-2913-9A21-8E643934D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F989F6-F6AE-BDD0-2318-BF0C3CD6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77518-C988-42B5-8681-45C6964A14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F9E141-E513-204A-1738-4E78DC1CF7D8}"/>
              </a:ext>
            </a:extLst>
          </p:cNvPr>
          <p:cNvSpPr txBox="1"/>
          <p:nvPr/>
        </p:nvSpPr>
        <p:spPr>
          <a:xfrm>
            <a:off x="1583324" y="2798432"/>
            <a:ext cx="9405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实验一：</a:t>
            </a:r>
            <a:r>
              <a:rPr lang="en-US" altLang="zh-CN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的注册与简单使用</a:t>
            </a:r>
          </a:p>
        </p:txBody>
      </p:sp>
    </p:spTree>
    <p:extLst>
      <p:ext uri="{BB962C8B-B14F-4D97-AF65-F5344CB8AC3E}">
        <p14:creationId xmlns:p14="http://schemas.microsoft.com/office/powerpoint/2010/main" val="10620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AE251C-82B0-6BFD-9F79-2FC97A424ED8}"/>
              </a:ext>
            </a:extLst>
          </p:cNvPr>
          <p:cNvSpPr txBox="1"/>
          <p:nvPr/>
        </p:nvSpPr>
        <p:spPr>
          <a:xfrm>
            <a:off x="292893" y="751165"/>
            <a:ext cx="44148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fontAlgn="base">
              <a:spcAft>
                <a:spcPts val="4000"/>
              </a:spcAft>
              <a:buClr>
                <a:srgbClr val="000000"/>
              </a:buClr>
              <a:buSzPts val="7200"/>
              <a:buFont typeface="Huawei Sans"/>
              <a:buAutoNum type="arabicPeriod"/>
            </a:pPr>
            <a:r>
              <a:rPr lang="en-US" altLang="zh-CN" sz="3200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GitHub</a:t>
            </a:r>
            <a:r>
              <a:rPr lang="zh-CN" altLang="zh-CN" sz="3200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的简单使用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AE9376-EC66-DCB2-8BD0-D7A9FEAA2B3D}"/>
              </a:ext>
            </a:extLst>
          </p:cNvPr>
          <p:cNvSpPr txBox="1"/>
          <p:nvPr/>
        </p:nvSpPr>
        <p:spPr>
          <a:xfrm>
            <a:off x="771523" y="1548164"/>
            <a:ext cx="9679783" cy="404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base">
              <a:spcBef>
                <a:spcPts val="3000"/>
              </a:spcBef>
              <a:spcAft>
                <a:spcPts val="400"/>
              </a:spcAft>
              <a:buClr>
                <a:srgbClr val="000000"/>
              </a:buClr>
              <a:buSzPts val="1800"/>
            </a:pPr>
            <a:r>
              <a:rPr lang="en-US" altLang="zh-CN" sz="2000" b="1" u="none" strike="noStrike" kern="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方正兰亭黑简体"/>
                <a:ea typeface="方正兰亭黑简体"/>
                <a:cs typeface="Book Antiqua" panose="02040602050305030304" pitchFamily="18" charset="0"/>
              </a:rPr>
              <a:t>1.1实验介绍</a:t>
            </a:r>
            <a:endParaRPr lang="en-US" altLang="zh-CN" sz="2000" b="1" kern="0" dirty="0">
              <a:effectLst>
                <a:outerShdw sx="0" sy="0">
                  <a:srgbClr val="000000"/>
                </a:outerShdw>
              </a:effectLst>
              <a:latin typeface="Huawei Sans"/>
              <a:ea typeface="方正兰亭黑简体"/>
              <a:cs typeface="Book Antiqua" panose="02040602050305030304" pitchFamily="18" charset="0"/>
            </a:endParaRPr>
          </a:p>
          <a:p>
            <a:pPr marL="0" lvl="1" fontAlgn="base"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800"/>
            </a:pPr>
            <a:r>
              <a:rPr lang="zh-CN" altLang="zh-CN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关于本实验</a:t>
            </a:r>
          </a:p>
          <a:p>
            <a:pPr indent="45720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已经成为程序员必备技能之一，而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作为流行的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仓库托管平台，不仅提供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仓库托管，还是一个非常优秀的技术人员社交平台，技术人员可以通过开源的项目进行协作、交流，是现在优秀的工程师必须娴熟运用的方法。</a:t>
            </a:r>
            <a:endParaRPr lang="en-US" altLang="zh-CN" dirty="0">
              <a:effectLst/>
              <a:latin typeface="Huawei Sans"/>
              <a:ea typeface="方正兰亭黑简体"/>
              <a:cs typeface="Arial" panose="020B0604020202020204" pitchFamily="34" charset="0"/>
            </a:endParaRPr>
          </a:p>
          <a:p>
            <a:pPr algn="just">
              <a:lnSpc>
                <a:spcPts val="1200"/>
              </a:lnSpc>
              <a:spcBef>
                <a:spcPts val="1000"/>
              </a:spcBef>
              <a:spcAft>
                <a:spcPts val="400"/>
              </a:spcAft>
            </a:pPr>
            <a:r>
              <a:rPr lang="zh-CN" altLang="zh-CN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实验目的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Wingdings" panose="05000000000000000000" pitchFamily="2" charset="2"/>
              <a:buChar char=""/>
              <a:tabLst>
                <a:tab pos="1350010" algn="l"/>
              </a:tabLst>
            </a:pP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了解</a:t>
            </a:r>
            <a:r>
              <a:rPr lang="en-US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Git</a:t>
            </a: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的基本操作与相关原理。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Wingdings" panose="05000000000000000000" pitchFamily="2" charset="2"/>
              <a:buChar char=""/>
              <a:tabLst>
                <a:tab pos="1350010" algn="l"/>
              </a:tabLst>
            </a:pP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了解在</a:t>
            </a:r>
            <a:r>
              <a:rPr lang="en-US" altLang="zh-CN" u="none" strike="noStrike" kern="100" spc="0" dirty="0" err="1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Github</a:t>
            </a: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上协作的基本流程。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Wingdings" panose="05000000000000000000" pitchFamily="2" charset="2"/>
              <a:buChar char=""/>
              <a:tabLst>
                <a:tab pos="1350010" algn="l"/>
              </a:tabLst>
            </a:pP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了解</a:t>
            </a:r>
            <a:r>
              <a:rPr lang="en-US" altLang="zh-CN" u="none" strike="noStrike" kern="100" spc="0" dirty="0" err="1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Github</a:t>
            </a: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项目的</a:t>
            </a:r>
            <a:r>
              <a:rPr lang="en-US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DevOps</a:t>
            </a:r>
            <a:r>
              <a:rPr lang="zh-CN" altLang="zh-CN" u="none" strike="noStrike" kern="10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Wingdings" panose="05000000000000000000" pitchFamily="2" charset="2"/>
              </a:rPr>
              <a:t>思想。</a:t>
            </a:r>
          </a:p>
        </p:txBody>
      </p:sp>
      <p:pic>
        <p:nvPicPr>
          <p:cNvPr id="12" name="图片 11" descr="图形用户界面, 应用程序&#10;&#10;描述已自动生成">
            <a:extLst>
              <a:ext uri="{FF2B5EF4-FFF2-40B4-BE49-F238E27FC236}">
                <a16:creationId xmlns:a16="http://schemas.microsoft.com/office/drawing/2014/main" id="{DCEACBE7-F552-ACF7-C306-8E9173C9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884" y="3527610"/>
            <a:ext cx="5274310" cy="277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5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517C51-CB49-12A8-12FD-58CD5AF6E53C}"/>
              </a:ext>
            </a:extLst>
          </p:cNvPr>
          <p:cNvSpPr txBox="1"/>
          <p:nvPr/>
        </p:nvSpPr>
        <p:spPr>
          <a:xfrm>
            <a:off x="708719" y="495201"/>
            <a:ext cx="10774561" cy="3300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base"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800"/>
            </a:pPr>
            <a:r>
              <a:rPr lang="en-US" altLang="zh-CN" sz="2000" b="1" u="none" strike="noStrike" kern="0" spc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方正兰亭黑简体"/>
                <a:ea typeface="方正兰亭黑简体"/>
                <a:cs typeface="Book Antiqua" panose="02040602050305030304" pitchFamily="18" charset="0"/>
              </a:rPr>
              <a:t>1.2实验任务配置</a:t>
            </a:r>
            <a:endParaRPr lang="en-US" altLang="zh-CN" sz="2000" b="1" kern="0" dirty="0">
              <a:effectLst>
                <a:outerShdw sx="0" sy="0">
                  <a:srgbClr val="000000"/>
                </a:outerShdw>
              </a:effectLst>
              <a:latin typeface="Huawei Sans"/>
              <a:ea typeface="方正兰亭黑简体"/>
              <a:cs typeface="Book Antiqua" panose="02040602050305030304" pitchFamily="18" charset="0"/>
            </a:endParaRPr>
          </a:p>
          <a:p>
            <a:pPr marL="0" lvl="1" fontAlgn="base"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800"/>
            </a:pPr>
            <a:r>
              <a:rPr lang="en-US" altLang="zh-CN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1.2.1</a:t>
            </a:r>
            <a:r>
              <a:rPr lang="zh-CN" altLang="zh-CN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注册</a:t>
            </a:r>
            <a:r>
              <a:rPr lang="en-US" altLang="zh-CN" b="1" u="none" strike="noStrike" kern="0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Book Antiqua" panose="02040602050305030304" pitchFamily="18" charset="0"/>
              </a:rPr>
              <a:t>GitHub</a:t>
            </a:r>
            <a:endParaRPr lang="zh-CN" altLang="zh-CN" b="1" u="none" strike="noStrike" kern="0" dirty="0">
              <a:ln>
                <a:noFill/>
              </a:ln>
              <a:effectLst>
                <a:outerShdw sx="0" sy="0">
                  <a:srgbClr val="000000"/>
                </a:outerShdw>
              </a:effectLst>
              <a:latin typeface="Huawei Sans"/>
              <a:ea typeface="方正兰亭黑简体"/>
              <a:cs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使用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，第一步是注册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账号。</a:t>
            </a:r>
            <a:endParaRPr lang="en-US" altLang="zh-CN" dirty="0">
              <a:effectLst/>
              <a:latin typeface="Huawei Sans"/>
              <a:ea typeface="方正兰亭黑简体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zh-CN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打开</a:t>
            </a:r>
            <a:r>
              <a:rPr lang="en-US" altLang="zh-CN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首页</a:t>
            </a: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：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打开浏览器，在地址栏中输入</a:t>
            </a:r>
            <a:r>
              <a:rPr lang="en-US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的网址：</a:t>
            </a:r>
            <a:r>
              <a:rPr lang="en-US" altLang="zh-CN" dirty="0">
                <a:solidFill>
                  <a:srgbClr val="FF0000"/>
                </a:solidFill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https://www.github.com/ 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后按回车键。</a:t>
            </a:r>
            <a:endParaRPr lang="en-US" altLang="zh-CN" dirty="0">
              <a:effectLst/>
              <a:latin typeface="Huawei Sans"/>
              <a:ea typeface="方正兰亭黑简体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zh-CN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注册</a:t>
            </a:r>
            <a:r>
              <a:rPr lang="zh-CN" altLang="en-US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Huawei Sans"/>
                <a:ea typeface="方正兰亭黑简体"/>
                <a:cs typeface="Arial" panose="020B0604020202020204" pitchFamily="34" charset="0"/>
              </a:rPr>
              <a:t>：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点击网页右上方的</a:t>
            </a:r>
            <a:r>
              <a:rPr lang="en-US" altLang="zh-CN" dirty="0">
                <a:solidFill>
                  <a:srgbClr val="FF0000"/>
                </a:solidFill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Sign Up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按钮，进入注册页面。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在新建账户页面中，根据页面提示输入</a:t>
            </a:r>
            <a:r>
              <a:rPr lang="zh-CN" altLang="zh-CN" dirty="0">
                <a:solidFill>
                  <a:srgbClr val="FF0000"/>
                </a:solidFill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昵称、邮箱、密码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等信息，完成后点击</a:t>
            </a:r>
            <a:r>
              <a:rPr lang="en-US" altLang="zh-CN" dirty="0">
                <a:solidFill>
                  <a:srgbClr val="FF0000"/>
                </a:solidFill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Create Account</a:t>
            </a:r>
            <a:r>
              <a:rPr lang="zh-CN" altLang="zh-CN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按钮，如图所示。</a:t>
            </a:r>
          </a:p>
        </p:txBody>
      </p:sp>
      <p:pic>
        <p:nvPicPr>
          <p:cNvPr id="6" name="图片 5" descr="图形用户界面, 文本, 应用程序&#10;&#10;描述已自动生成">
            <a:extLst>
              <a:ext uri="{FF2B5EF4-FFF2-40B4-BE49-F238E27FC236}">
                <a16:creationId xmlns:a16="http://schemas.microsoft.com/office/drawing/2014/main" id="{417A215F-66CF-1C80-A257-C879BC1D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136" y="3594834"/>
            <a:ext cx="4158236" cy="2744710"/>
          </a:xfrm>
          <a:prstGeom prst="rect">
            <a:avLst/>
          </a:prstGeom>
        </p:spPr>
      </p:pic>
      <p:pic>
        <p:nvPicPr>
          <p:cNvPr id="7" name="图片 6" descr="图形用户界面, 文本, 应用程序&#10;&#10;描述已自动生成">
            <a:extLst>
              <a:ext uri="{FF2B5EF4-FFF2-40B4-BE49-F238E27FC236}">
                <a16:creationId xmlns:a16="http://schemas.microsoft.com/office/drawing/2014/main" id="{9F181F2E-9D41-2467-BBE8-62EC9459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91" y="3594834"/>
            <a:ext cx="5274310" cy="276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2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B810C65-A207-E1C8-9F01-9F54F790B960}"/>
              </a:ext>
            </a:extLst>
          </p:cNvPr>
          <p:cNvSpPr txBox="1"/>
          <p:nvPr/>
        </p:nvSpPr>
        <p:spPr>
          <a:xfrm>
            <a:off x="205582" y="607907"/>
            <a:ext cx="5617367" cy="5336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2000" b="1" dirty="0">
                <a:effectLst/>
                <a:latin typeface="HuaweiSans-Regular"/>
                <a:ea typeface="方正兰亭黑简体"/>
                <a:cs typeface="Arial" panose="020B0604020202020204" pitchFamily="34" charset="0"/>
              </a:rPr>
              <a:t>1.2.2 GitHub</a:t>
            </a:r>
            <a:r>
              <a:rPr lang="zh-CN" altLang="zh-CN" sz="2000" b="1" dirty="0">
                <a:effectLst/>
                <a:latin typeface="HuaweiSans-Regular"/>
                <a:ea typeface="方正兰亭黑简体"/>
                <a:cs typeface="Arial" panose="020B0604020202020204" pitchFamily="34" charset="0"/>
              </a:rPr>
              <a:t>界面总览</a:t>
            </a:r>
            <a:endParaRPr lang="en-US" altLang="zh-CN" sz="2000" b="1" dirty="0">
              <a:effectLst/>
              <a:latin typeface="Huawei Sans"/>
              <a:ea typeface="方正兰亭黑简体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界面的总体功能，如图所示。图中标记的序号含义如下：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1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）进入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主页的按钮。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2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）搜索框，用户可以在这里搜索一些开源项目。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3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）用户的头像。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4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）用户的昵称（账号名称），用户可以在设置中设置昵称。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5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）提示用户添加一个类似于个人描述或个性签名的东西。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6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）此处有三个数据：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Followers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，追随（关注）你的人；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Following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，你追随（关注）的人和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Starred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，你获得点赞（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Star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）的数量。 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7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Pull requests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：即其他人向用户的仓库提交合并请求。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8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Issues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：即其他人对用户的项目提的问题。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9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）用户的项目仓库。</a:t>
            </a:r>
          </a:p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（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10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）用户每天向</a:t>
            </a:r>
            <a:r>
              <a:rPr lang="en-US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GitHub</a:t>
            </a:r>
            <a:r>
              <a:rPr lang="zh-CN" altLang="zh-CN" sz="1600" dirty="0">
                <a:effectLst/>
                <a:latin typeface="Huawei Sans"/>
                <a:ea typeface="方正兰亭黑简体"/>
                <a:cs typeface="Arial" panose="020B0604020202020204" pitchFamily="34" charset="0"/>
              </a:rPr>
              <a:t>提交的贡献的分布图。</a:t>
            </a:r>
          </a:p>
        </p:txBody>
      </p:sp>
      <p:pic>
        <p:nvPicPr>
          <p:cNvPr id="10" name="图片 9" descr="图形用户界面, 应用程序&#10;&#10;描述已自动生成">
            <a:extLst>
              <a:ext uri="{FF2B5EF4-FFF2-40B4-BE49-F238E27FC236}">
                <a16:creationId xmlns:a16="http://schemas.microsoft.com/office/drawing/2014/main" id="{F0F28FF7-72E5-A907-B7AB-76EBBF26E6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2"/>
          <a:stretch/>
        </p:blipFill>
        <p:spPr bwMode="auto">
          <a:xfrm>
            <a:off x="5901530" y="1310294"/>
            <a:ext cx="6032500" cy="386397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37304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中度可信度描述已自动生成">
            <a:extLst>
              <a:ext uri="{FF2B5EF4-FFF2-40B4-BE49-F238E27FC236}">
                <a16:creationId xmlns:a16="http://schemas.microsoft.com/office/drawing/2014/main" id="{59BB74C1-3738-D907-9B78-86A93CFB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32" y="1171500"/>
            <a:ext cx="2685597" cy="2122488"/>
          </a:xfrm>
          <a:prstGeom prst="rect">
            <a:avLst/>
          </a:prstGeom>
        </p:spPr>
      </p:pic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CE2A6149-AB68-C4EA-CD5B-3DF64435E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971" y="3952880"/>
            <a:ext cx="5517438" cy="70801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962EB92-F8BA-A1D4-164C-82A0B07B32BF}"/>
              </a:ext>
            </a:extLst>
          </p:cNvPr>
          <p:cNvSpPr txBox="1"/>
          <p:nvPr/>
        </p:nvSpPr>
        <p:spPr>
          <a:xfrm>
            <a:off x="565591" y="778739"/>
            <a:ext cx="6768020" cy="479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1.2.3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安装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下载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安装包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的官网（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https://git-scm.com/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）下载安装包并执行安装程序。 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👉图显示的为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Windows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操作系统下安装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后开始菜单中相关的快捷方式。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2"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相关参数配置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安装完成后，启动命令行后首先设置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的用户名：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 config --global user.name "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YOUR NAME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然后设置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用户的电子邮箱地址：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 config --global 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user.email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"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your@email.com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如👉图所示。</a:t>
            </a:r>
          </a:p>
        </p:txBody>
      </p:sp>
    </p:spTree>
    <p:extLst>
      <p:ext uri="{BB962C8B-B14F-4D97-AF65-F5344CB8AC3E}">
        <p14:creationId xmlns:p14="http://schemas.microsoft.com/office/powerpoint/2010/main" val="185806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C4CC9FC9-30FA-B985-5009-6BF5279F03FA}"/>
              </a:ext>
            </a:extLst>
          </p:cNvPr>
          <p:cNvSpPr txBox="1"/>
          <p:nvPr/>
        </p:nvSpPr>
        <p:spPr>
          <a:xfrm>
            <a:off x="338476" y="676217"/>
            <a:ext cx="6534867" cy="554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1.2.4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上新建仓库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在任意的页面右上角单击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，然后单击新建仓库“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New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为仓库创建一个简短便于记忆的名字。例如“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hello-world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为仓库添加描述（可选），例如“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 first repository on GitHub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选择仓库类型。仓库类型分为公有（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Public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）或者私有（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Private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），具体如下。本例选择“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Public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Public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：公有仓库对于刚入门的新手来说是不错的选择。这些仓库在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上对于每个人是可见，用户可以从协作型社区中受益。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Private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：私有仓库需要更多地步骤。它们只对于用户来说是可用的，这个仓库的所有者属于用户和及其指定要分享的合作者。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选择初始化文件，选择“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Initialize this repository with a README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单击“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Create repository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，完成创建一个仓库。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至此第一个仓库成功创建，并且通过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README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文件进行了初始化。</a:t>
            </a:r>
          </a:p>
        </p:txBody>
      </p:sp>
      <p:pic>
        <p:nvPicPr>
          <p:cNvPr id="16" name="图片 1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4EB6CC0-8F4A-C309-3D68-7F7CB7B51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075" y="1617269"/>
            <a:ext cx="4433226" cy="5139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D0A9554-3245-E5B1-0752-4EA31780147F}"/>
              </a:ext>
            </a:extLst>
          </p:cNvPr>
          <p:cNvSpPr/>
          <p:nvPr/>
        </p:nvSpPr>
        <p:spPr>
          <a:xfrm>
            <a:off x="8162094" y="2485449"/>
            <a:ext cx="1044639" cy="19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862FE6-0F40-3D8C-BF13-3B485F0B9D03}"/>
              </a:ext>
            </a:extLst>
          </p:cNvPr>
          <p:cNvSpPr/>
          <p:nvPr/>
        </p:nvSpPr>
        <p:spPr>
          <a:xfrm>
            <a:off x="7364667" y="3122665"/>
            <a:ext cx="1044639" cy="19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188D6C-0E2A-1043-A636-ADD380B73649}"/>
              </a:ext>
            </a:extLst>
          </p:cNvPr>
          <p:cNvSpPr/>
          <p:nvPr/>
        </p:nvSpPr>
        <p:spPr>
          <a:xfrm>
            <a:off x="7364667" y="3423821"/>
            <a:ext cx="2564858" cy="289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434A51-0FC5-A404-EA88-8C013CA25E60}"/>
              </a:ext>
            </a:extLst>
          </p:cNvPr>
          <p:cNvSpPr/>
          <p:nvPr/>
        </p:nvSpPr>
        <p:spPr>
          <a:xfrm>
            <a:off x="7364666" y="4181090"/>
            <a:ext cx="2706008" cy="2798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FEF35D-42C4-9C08-9845-3CAC48C90486}"/>
              </a:ext>
            </a:extLst>
          </p:cNvPr>
          <p:cNvSpPr/>
          <p:nvPr/>
        </p:nvSpPr>
        <p:spPr>
          <a:xfrm>
            <a:off x="10303877" y="5934395"/>
            <a:ext cx="767114" cy="269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520FF68-B71B-2E71-DA49-00EA50D31F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75"/>
          <a:stretch/>
        </p:blipFill>
        <p:spPr>
          <a:xfrm>
            <a:off x="7536129" y="200027"/>
            <a:ext cx="3031635" cy="14748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70900BA4-4D0E-8837-A28E-9AD34F65A700}"/>
              </a:ext>
            </a:extLst>
          </p:cNvPr>
          <p:cNvSpPr/>
          <p:nvPr/>
        </p:nvSpPr>
        <p:spPr>
          <a:xfrm>
            <a:off x="8873977" y="447995"/>
            <a:ext cx="822346" cy="18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53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19525EA-63D8-A6DD-26D8-6BFB0DCA926E}"/>
              </a:ext>
            </a:extLst>
          </p:cNvPr>
          <p:cNvSpPr txBox="1"/>
          <p:nvPr/>
        </p:nvSpPr>
        <p:spPr>
          <a:xfrm>
            <a:off x="392092" y="519475"/>
            <a:ext cx="6867876" cy="590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1.2.5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提交第一个更改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一个提交就像项目里的文件在一个特定时间点上的快照一样。当创建了一个新仓库，通过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README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文件初始化。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README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文件里有关于这个项目的详细解释，或者添加一些关于如何安装或者使用该项目的文档。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README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文件的内容会自动地显示在仓库的首页。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以下提交一个对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README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文件的修改。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在仓库的文件列表，单击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README.md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文件，如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在文件内容的右上方，单击    按钮。 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Edit file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标签上，输入一些关于用户的信息，如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在新内容的上方，单击“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Preview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检查用户对这个文件进行的更改，会看到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新的内容被绿色标记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在页面的底部，即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Commit changes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"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下方，输入一些简短、有意义的提交信息来解释用户对这个文件所进行的修改，如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👉图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所示。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单击“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Commit changes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，完成提交。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BEF4BF8-9539-BB4D-A4E7-5E7ADBCC9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23" y="304767"/>
            <a:ext cx="1676400" cy="142875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22179D4-B2F1-B752-E3C0-6DF50B7D1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23" y="1844037"/>
            <a:ext cx="1952625" cy="904875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7162CE0-20EC-CCF6-E294-08E6E2097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23" y="2859432"/>
            <a:ext cx="1800225" cy="165735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6A9DCE7-405D-C707-7B76-8447719638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23" y="4638342"/>
            <a:ext cx="2095500" cy="137160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C7AF587-DE26-1601-724C-7A430BE70D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23" y="6131502"/>
            <a:ext cx="3200400" cy="70485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F464FB5-7923-54CC-74CA-4E083A329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172" y="3148265"/>
            <a:ext cx="215900" cy="215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48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8ACAEA-1B80-629F-2A92-8795138B50D3}"/>
              </a:ext>
            </a:extLst>
          </p:cNvPr>
          <p:cNvSpPr txBox="1"/>
          <p:nvPr/>
        </p:nvSpPr>
        <p:spPr>
          <a:xfrm>
            <a:off x="434866" y="781961"/>
            <a:ext cx="11322268" cy="489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1.2.6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一个示例仓库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是对一个仓库的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复制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。复制一个仓库允许自由试验各种改变，而不影响原始的项目。一般来说，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被用于更改别人的项目（贡献代码给已经开源的项目）或者使用别人的项目作为用户想法的初始开发点。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一种方式是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更改别人的项目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。使用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提出改变的一个很好的例子是漏洞修复。与其记录一个发现的问题，不如采用如下方式。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这个仓库；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进行修复；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向这个项目的拥有者提交一个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pull 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requset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marL="285750" indent="28575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如果这个项目的拥有者认同这些成果，他们可能会将这些修复更新到原始的仓库中。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另一种方式是使用别人的项目作为用户想法的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初始开发点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。开源的核心是共享代码，我们可以制作更好、更可靠的软件。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事实上，当用户在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上创建一个仓库时，可以选择自动包含一个许可文件，这个文件决定用户是否希望将项目分享给其他人。</a:t>
            </a:r>
          </a:p>
        </p:txBody>
      </p:sp>
    </p:spTree>
    <p:extLst>
      <p:ext uri="{BB962C8B-B14F-4D97-AF65-F5344CB8AC3E}">
        <p14:creationId xmlns:p14="http://schemas.microsoft.com/office/powerpoint/2010/main" val="175869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8ACAEA-1B80-629F-2A92-8795138B50D3}"/>
              </a:ext>
            </a:extLst>
          </p:cNvPr>
          <p:cNvSpPr txBox="1"/>
          <p:nvPr/>
        </p:nvSpPr>
        <p:spPr>
          <a:xfrm>
            <a:off x="583343" y="1845530"/>
            <a:ext cx="4804866" cy="292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一个仓库分为两步：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上，定位到</a:t>
            </a:r>
            <a:r>
              <a:rPr lang="en-US" altLang="zh-CN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octocat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/Spoon-Knife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在页面右上角，单击“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按钮，如👉图所示。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这样就已经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这个原始的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octocat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/Spoon-Knife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仓库。</a:t>
            </a:r>
          </a:p>
        </p:txBody>
      </p:sp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6051162F-9497-2DC3-A8C1-AA6007CF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949" y="451432"/>
            <a:ext cx="5274310" cy="1843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图形用户界面, 文本, 应用程序, 电子邮件, Teams&#10;&#10;描述已自动生成">
            <a:extLst>
              <a:ext uri="{FF2B5EF4-FFF2-40B4-BE49-F238E27FC236}">
                <a16:creationId xmlns:a16="http://schemas.microsoft.com/office/drawing/2014/main" id="{E1969AF8-59C4-DCFF-12EB-75DB766E4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524"/>
          <a:stretch/>
        </p:blipFill>
        <p:spPr>
          <a:xfrm>
            <a:off x="5786949" y="2424855"/>
            <a:ext cx="5283024" cy="15457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电脑软件截图&#10;&#10;描述已自动生成">
            <a:extLst>
              <a:ext uri="{FF2B5EF4-FFF2-40B4-BE49-F238E27FC236}">
                <a16:creationId xmlns:a16="http://schemas.microsoft.com/office/drawing/2014/main" id="{2E2BA333-D70C-4F8B-8757-258C092CC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949" y="4202660"/>
            <a:ext cx="5274310" cy="19507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BB88E5E-5E53-BF94-6B7A-A3A12B0F152B}"/>
              </a:ext>
            </a:extLst>
          </p:cNvPr>
          <p:cNvSpPr/>
          <p:nvPr/>
        </p:nvSpPr>
        <p:spPr>
          <a:xfrm>
            <a:off x="5859246" y="451432"/>
            <a:ext cx="2564858" cy="199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BD1239-058E-9D10-57A6-79C4B135A42C}"/>
              </a:ext>
            </a:extLst>
          </p:cNvPr>
          <p:cNvSpPr/>
          <p:nvPr/>
        </p:nvSpPr>
        <p:spPr>
          <a:xfrm>
            <a:off x="9733144" y="4565863"/>
            <a:ext cx="552322" cy="1534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29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C4F4BC-4278-E73B-EEC1-F2DC7BFBCCCF}"/>
              </a:ext>
            </a:extLst>
          </p:cNvPr>
          <p:cNvSpPr txBox="1"/>
          <p:nvPr/>
        </p:nvSpPr>
        <p:spPr>
          <a:xfrm>
            <a:off x="325257" y="364411"/>
            <a:ext cx="8278695" cy="612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1.2.7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同步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一个项目为了提交更改向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或原始仓库的情况下，已经很好地实现了将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仓库定期同步到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。要做到这一点，需要在命令行中使用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，可以使用刚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octocat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/Spoon-Knife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仓库去练习设置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上，定位到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Spoon-Knife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的仓库页面的右侧边栏，单击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Code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下拉菜单，复制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HTTPS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，如👉图所示：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打开命令提示符，输入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clone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，然后粘贴在步骤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复制的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$ 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clone https://github.com/</a:t>
            </a:r>
            <a:r>
              <a:rPr lang="en-US" altLang="zh-CN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YOUR-USERNAME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/Spoon-Knife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4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按回车键，本地克隆就创建好了。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$ 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clone https://github.com/YOUR-USERNAME/Spoon-Knife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Cloning into 'Spoon-Knife'...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remote: Counting objects: 10, done.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remote: Compressing objects: 100% (8/8), done.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remove: Total 10 (delta 1), reused 10 (delta 1)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Unpacking objects: 100% (10/10), done.</a:t>
            </a:r>
          </a:p>
        </p:txBody>
      </p:sp>
      <p:pic>
        <p:nvPicPr>
          <p:cNvPr id="4" name="图片 3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19BB5E7D-6F18-52F4-D9BA-82D6BCCE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100" y="739651"/>
            <a:ext cx="2971663" cy="24452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7C7AA3DD-21F6-6BD9-4180-207016DE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351" y="3270822"/>
            <a:ext cx="5274310" cy="305943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5E2187-A879-FA7B-FF38-C85C05BE6E0D}"/>
              </a:ext>
            </a:extLst>
          </p:cNvPr>
          <p:cNvSpPr/>
          <p:nvPr/>
        </p:nvSpPr>
        <p:spPr>
          <a:xfrm>
            <a:off x="10819377" y="1012015"/>
            <a:ext cx="779388" cy="289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AD1E9-9DE8-2427-BD6B-40F900CBB6FC}"/>
              </a:ext>
            </a:extLst>
          </p:cNvPr>
          <p:cNvSpPr/>
          <p:nvPr/>
        </p:nvSpPr>
        <p:spPr>
          <a:xfrm>
            <a:off x="9127357" y="1810388"/>
            <a:ext cx="2324122" cy="2332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E13A77-F168-0520-33F0-006E5076E50A}"/>
              </a:ext>
            </a:extLst>
          </p:cNvPr>
          <p:cNvSpPr/>
          <p:nvPr/>
        </p:nvSpPr>
        <p:spPr>
          <a:xfrm>
            <a:off x="6578770" y="5117608"/>
            <a:ext cx="4197649" cy="902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70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C4F4BC-4278-E73B-EEC1-F2DC7BFBCCCF}"/>
              </a:ext>
            </a:extLst>
          </p:cNvPr>
          <p:cNvSpPr txBox="1"/>
          <p:nvPr/>
        </p:nvSpPr>
        <p:spPr>
          <a:xfrm>
            <a:off x="447996" y="1635791"/>
            <a:ext cx="7174049" cy="376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一个项目是为了提出更改这个原始的仓库，可以配置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将原始的或者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的变化更改到本地。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GitHub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上，定位到</a:t>
            </a:r>
            <a:r>
              <a:rPr lang="en-US" altLang="zh-CN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octocat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/Spoon-Knife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仓库。 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在这个仓库页面的右侧边栏，单击复制图标       复制这个仓库的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，如👉图所示。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进入到步骤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本地创建的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本地目录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，打开命令提示符。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-v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，按回车键，将会看到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当前配置的远程仓库：</a:t>
            </a:r>
          </a:p>
          <a:p>
            <a:pPr indent="457200"/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$ 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-v</a:t>
            </a:r>
          </a:p>
          <a:p>
            <a:pPr indent="457200"/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origin  https://github.com/YOUR_USERNAME/YOUR_FORK.git (fetch)</a:t>
            </a:r>
          </a:p>
          <a:p>
            <a:pPr indent="457200"/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origin  https://github.com/YOUR_USERNAME/YOUR_FORK.git (push)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5"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78F0237E-AC27-BCF7-727C-24FC43264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47" y="310218"/>
            <a:ext cx="3784357" cy="3040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电脑屏幕的截图&#10;&#10;描述已自动生成">
            <a:extLst>
              <a:ext uri="{FF2B5EF4-FFF2-40B4-BE49-F238E27FC236}">
                <a16:creationId xmlns:a16="http://schemas.microsoft.com/office/drawing/2014/main" id="{391AE8B6-E53E-2445-0E02-030D17E3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65" y="3792113"/>
            <a:ext cx="4327973" cy="251049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F3D9F30-29E3-AC71-4E6A-DAE9AD6AAB40}"/>
              </a:ext>
            </a:extLst>
          </p:cNvPr>
          <p:cNvSpPr/>
          <p:nvPr/>
        </p:nvSpPr>
        <p:spPr>
          <a:xfrm>
            <a:off x="8279067" y="1541475"/>
            <a:ext cx="3196960" cy="3486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AA8B4D-4F20-4F0D-F367-5921A40DA818}"/>
              </a:ext>
            </a:extLst>
          </p:cNvPr>
          <p:cNvSpPr/>
          <p:nvPr/>
        </p:nvSpPr>
        <p:spPr>
          <a:xfrm>
            <a:off x="7487034" y="4051094"/>
            <a:ext cx="3025497" cy="484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A90ACB-E7C9-4887-F25A-1044E1D8F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2807225"/>
            <a:ext cx="410461" cy="2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13F7CF9-1E86-8A8E-E863-6173C8FAD661}"/>
              </a:ext>
            </a:extLst>
          </p:cNvPr>
          <p:cNvSpPr txBox="1"/>
          <p:nvPr/>
        </p:nvSpPr>
        <p:spPr>
          <a:xfrm>
            <a:off x="379277" y="360275"/>
            <a:ext cx="8543793" cy="361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9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add upstream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，然后粘贴步骤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复制的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并按下回车键。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$ 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add upstream https://github.com/</a:t>
            </a:r>
            <a:r>
              <a:rPr lang="en-US" altLang="zh-CN" sz="160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octocat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/Spoon-Knife.git</a:t>
            </a:r>
          </a:p>
          <a:p>
            <a:pPr marL="342900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+mj-ea"/>
              <a:buAutoNum type="circleNumDbPlain" startAt="10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验证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里新指明的这个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仓库，再次输入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-v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。将会看到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作为原始的地址，而原始的仓库的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作为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$ 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git remote -v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origin https://github.com/YOUR_USERNAME/YOUR_FORK.git (fetch)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origin https://github.com/YOUR_USERNAME/YOUR_FORK.git (push)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  https://github.com/ORIGINAL_OWNER/ORIGINAL_REPOSITORY.git (fetch)</a:t>
            </a:r>
          </a:p>
          <a:p>
            <a:pPr indent="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  https://github.com/ORIGINAL_OWNER/ORIGINAL_REPOSITORY.git (push)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通过以上操作，可以利用几个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Git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命令保持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Fork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upstream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的仓库的同步。</a:t>
            </a:r>
          </a:p>
        </p:txBody>
      </p:sp>
      <p:pic>
        <p:nvPicPr>
          <p:cNvPr id="9" name="图片 8" descr="电脑屏幕的截图&#10;&#10;描述已自动生成">
            <a:extLst>
              <a:ext uri="{FF2B5EF4-FFF2-40B4-BE49-F238E27FC236}">
                <a16:creationId xmlns:a16="http://schemas.microsoft.com/office/drawing/2014/main" id="{8FD0103F-9F94-DCF2-2744-95E79B6C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96" y="3728087"/>
            <a:ext cx="4668927" cy="270827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4AF42D-24B3-4901-1E46-BFA4D3DC6FE0}"/>
              </a:ext>
            </a:extLst>
          </p:cNvPr>
          <p:cNvSpPr/>
          <p:nvPr/>
        </p:nvSpPr>
        <p:spPr>
          <a:xfrm>
            <a:off x="7057450" y="4853722"/>
            <a:ext cx="3964444" cy="694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50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1665</Words>
  <Application>Microsoft Office PowerPoint</Application>
  <PresentationFormat>宽屏</PresentationFormat>
  <Paragraphs>102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Huawei Sans</vt:lpstr>
      <vt:lpstr>HuaweiSans-Regular</vt:lpstr>
      <vt:lpstr>等线</vt:lpstr>
      <vt:lpstr>等线 Light</vt:lpstr>
      <vt:lpstr>方正兰亭黑简体</vt:lpstr>
      <vt:lpstr>华文楷体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十二 二一</dc:creator>
  <cp:lastModifiedBy>十二 二一</cp:lastModifiedBy>
  <cp:revision>5</cp:revision>
  <dcterms:created xsi:type="dcterms:W3CDTF">2024-03-07T01:13:28Z</dcterms:created>
  <dcterms:modified xsi:type="dcterms:W3CDTF">2024-03-07T05:12:03Z</dcterms:modified>
</cp:coreProperties>
</file>